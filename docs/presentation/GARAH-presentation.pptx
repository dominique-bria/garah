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simplement : GARAH est une plateforme qui relie trois métiers aujourd'hui séparés — la vente, le service client et le transport — sur l'axe Douala–Bertoua–Bangui.
Ne pas entrer dans la technique : la présentation y vient à la fin, et brièvement.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décor avant de parler de la solution. Le partenaire doit reconnaître une situation qu'il connaît.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rien de tout cela n'est du désordre. Ce sont des gens sérieux avec de mauvais outils.
Le point qui fait mal est le dernier : « il est parti » n'est pas une réponse, et c'est la seule qu'on puisse donner.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trois pertes à retenir. Chacune a une réponse directe dans la suite de la présentation :
— le litige → le journal d'événements ;
— la commission → le grand livre automatique ;
— le rappel client → le suivi public par SMS.
Si l'interlocuteur ne retient qu'une chose de cette partie, c'est celle-ci.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on ne remplace pas le commerçant, on lui donne la mémoire qui lui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 important est « se parlent ». Une vente écrit sa ligne comptable toute seule. Un colis écrit son parcours. Une réclamation retrouve la commande.
C'est ce recoupement automatique qui n'existe pas quand les outils sont séparés — et c'est là que se logent les pertes.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à défendre est le deuxième. Beaucoup de plateformes imposent UN prix par article : elles sont conçues pour le détail occidental.
Ici le prix dépend de la quantité, parce que c'est ainsi qu'on achète sur ce corridor. Un marchand qui vend au carton ne peut pas travailler autrement.
Sur la négociation : le marchandage n'est pas contourné, il est outillé. C'est un argument fort auprès de quelqu'un qui connaît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à laisser respirer. C'est une règle de comptabilité, pas un détail technique.
Sans elle, toute la comptabilité passée devient fausse à chaque mise à jour de prix — et personne ne s'en aperçoit avant un contrôle ou un litige.
Si on vous demande « comment vous faites ? » : chaque ligne de commande garde une COPIE des montants, elle ne pointe pas vers le tarif du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troisième point mérite qu'on s'y arrête — la diapositive suivante l'explique.
Sur le premier : la file est partagée, et le premier qui clique gagne le dossier. Cela évite qu'une réclamation attende parce que la personne à qui elle était assignée est absente.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l'exemple le plus parlant de la philosophie du système.
Un bouton « retour traité » serait plus simple à construire — et il ferait sortir de l'argent pour des colis vides. Les cinq étapes existent parce que chacune est un moment où quelqu'un constate quelque chose de différent.
Les deux chiffres conservés (déclaré / constaté) sont ce qui permet de trancher un litige.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suivi public est l'argument commercial le plus immédiat : il supprime les appels « où est mon colis ? », et il se partage par SMS comme le font déjà les gens.
Sur les itinéraires : le système annonce un délai mais n'interdit pas de s'en écarter. Un logiciel qui refuse la réalité fait saisir n'importe quoi d'autre — et on perd la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Petit détail, grosse conséquence. C'est le genre d'arbitrage qui distingue un logiciel pensé pour le terrain d'un logiciel pensé pour la démonstration.
À utiliser si l'interlocuteur demande « qu'est-ce qui vous différencie d'une solution du marché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partie qui rassure un investisseur ou un comptable.
Le deuxième point est le plus important : on ne stocke jamais « ce marchand nous doit X ». On additionne les lignes à chaque affichage. Un total stocké se désynchronise dès la première opération manquée, et plus personne ne sait laquelle.
La référence de virement est obligatoire : c'est la seule preuve six mois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L'export est un argument concret : un partenaire ou un banquier qui demande des chiffres reçoit un document propre, pas une capture d'écran.
Sur l'audience : savoir qu'un produit est très consulté et peu acheté est une information commerciale — le prix ou la photo ne vont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centrale si le temps manque. C'est ici que se joue la différence avec une solution générique.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ligne de droite coûte plus cher à construire que celle de gauche. C'est un investissement délibéré, et il se rembourse au premier litige sérieux.
Formule utile : « nous avons construit pour le jour où ça se passe mal, parce que c'est ce jour-là que l'argent se perd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séparation des pouvoirs. Personne ne peut, seul, faire sortir de l'argent.
Les 188 autorisations ne se donnent pas une par une : on assemble des profils (« agent de comptoir », « service client », « gestionnaire de catalogue ») et on affecte les gens à des profils.
Argument à sortir si on vous parle de fraude interne ou de contrôle.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différenciant face à une solution importée : celles-ci supposent la fibre, la carte bancaire et l'euro.
Le sango n'est pas un détail : c'est la langue véhiculaire en Centrafrique, et personne d'autre ne la prévoit.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survoler : c'est la diapositive qui établit la crédibilité.
Le seul « en cours » est la vitrine client. Autrement dit : le moteur est construit, il faut poser la carrosserie. C'est l'inverse de la plupart des projets, où l'on montre une belle façade sans rien derrière.
Le back-office est utilisé aujourd'hui, en production, sur des données réelles.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laisser ces chiffres passer pour de la décoration. Le seul qui compte vraiment pour un partenaire est le troisième — la diapositive suivante explique pourquoi.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traduction à faire à voix haute : « le projet est évolutif sur la durée, pas seulement fonctionnel aujourd'hui ».
C'est ce qui sépare un logiciel qu'on peut faire grandir d'un logiciel qu'il faudra réécrire dans trois ans. Un partenaire qui a déjà financé un projet informatique comprendra immédiatement.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s'attarder — le public n'est pas technicien. Le seul message est : aucune brique exotique, aucune brique propriétaire, des compétences qui se recrutent.
Si on demande « et si vous partez ? » : c'est exactement à cette question que répond cette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point est une preuve, pas une promesse : le déménagement a réellement eu lieu, et il n'a rien cassé.
Le second répond à la peur classique : « et si une mise à jour casse tout un samedi soir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que le serveur expose DÉJÀ tout ce dont ces écrans ont besoin : catalogue, panier, commande, paiement, suivi, réclamations, conversations.
Il ne s'agit pas d'inventer, il s'agit de construire les écrans. Le risque est faible et le périmètre est connu.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cette diapositive à l'interlocuteur : un investisseur financier, un partenaire logistique et un marchand n'entendent pas la même chose.
Garder l'ordre : la boutique d'abord, parce que rien ne se vend sans 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phrase à laisser en dernier avant la clôture. C'est le message que le partenaire doit emporter.
Un projet informatique échoue le plus souvent AVANT d'être fini. Ici, la partie la plus risquée est passée.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et où trouver la réponse :
— « Combien ça coûte à faire tourner ? » → partie 9, hébergement standard, pas de licence.
— « Qu'est-ce qui vous protège d'un concurrent ? » → partie 7 : les arbitrages, le sango, le Mobile Money, la connaissance du corridor.
— « Combien de temps pour finir ? » → partie 10 : périmètre connu, serveur déjà prêt.
— « Et si vous partez ? » → partie 9 : technologies courantes, 31 décisions documentées.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12A594"/>
          </a:solidFill>
          <a:ln/>
        </p:spPr>
      </p:sp>
      <p:sp>
        <p:nvSpPr>
          <p:cNvPr id="3" name="Text 1"/>
          <p:cNvSpPr/>
          <p:nvPr/>
        </p:nvSpPr>
        <p:spPr>
          <a:xfrm>
            <a:off x="822960" y="1417320"/>
            <a:ext cx="7772400" cy="914400"/>
          </a:xfrm>
          <a:prstGeom prst="rect">
            <a:avLst/>
          </a:prstGeom>
          <a:noFill/>
          <a:ln/>
        </p:spPr>
        <p:txBody>
          <a:bodyPr wrap="square" rtlCol="0" anchor="ctr"/>
          <a:lstStyle/>
          <a:p>
            <a:pPr indent="0" marL="0">
              <a:buNone/>
            </a:pPr>
            <a:r>
              <a:rPr lang="en-US" sz="5400" b="1" spc="200" kern="0" dirty="0">
                <a:solidFill>
                  <a:srgbClr val="FFFFFF"/>
                </a:solidFill>
                <a:latin typeface="Georgia" pitchFamily="34" charset="0"/>
                <a:ea typeface="Georgia" pitchFamily="34" charset="-122"/>
                <a:cs typeface="Georgia" pitchFamily="34" charset="-120"/>
              </a:rPr>
              <a:t>GARAH</a:t>
            </a:r>
            <a:endParaRPr lang="en-US" sz="5400" dirty="0"/>
          </a:p>
        </p:txBody>
      </p:sp>
      <p:sp>
        <p:nvSpPr>
          <p:cNvPr id="4" name="Text 2"/>
          <p:cNvSpPr/>
          <p:nvPr/>
        </p:nvSpPr>
        <p:spPr>
          <a:xfrm>
            <a:off x="822960" y="2377440"/>
            <a:ext cx="7498080" cy="822960"/>
          </a:xfrm>
          <a:prstGeom prst="rect">
            <a:avLst/>
          </a:prstGeom>
          <a:noFill/>
          <a:ln/>
        </p:spPr>
        <p:txBody>
          <a:bodyPr wrap="square" rtlCol="0" anchor="ctr"/>
          <a:lstStyle/>
          <a:p>
            <a:pPr indent="0" marL="0">
              <a:lnSpc>
                <a:spcPct val="120000"/>
              </a:lnSpc>
              <a:buNone/>
            </a:pPr>
            <a:r>
              <a:rPr lang="en-US" sz="2000" dirty="0">
                <a:solidFill>
                  <a:srgbClr val="12A594"/>
                </a:solidFill>
                <a:latin typeface="Calibri" pitchFamily="34" charset="0"/>
                <a:ea typeface="Calibri" pitchFamily="34" charset="-122"/>
                <a:cs typeface="Calibri" pitchFamily="34" charset="-120"/>
              </a:rPr>
              <a:t>Vendre, servir et acheminer</a:t>
            </a:r>
            <a:endParaRPr lang="en-US" sz="2000" dirty="0"/>
          </a:p>
          <a:p>
            <a:pPr indent="0" marL="0">
              <a:lnSpc>
                <a:spcPct val="120000"/>
              </a:lnSpc>
              <a:buNone/>
            </a:pPr>
            <a:r>
              <a:rPr lang="en-US" sz="2000" dirty="0">
                <a:solidFill>
                  <a:srgbClr val="12A594"/>
                </a:solidFill>
                <a:latin typeface="Calibri" pitchFamily="34" charset="0"/>
                <a:ea typeface="Calibri" pitchFamily="34" charset="-122"/>
                <a:cs typeface="Calibri" pitchFamily="34" charset="-120"/>
              </a:rPr>
              <a:t>entre le Cameroun et la Centrafrique</a:t>
            </a:r>
            <a:endParaRPr lang="en-US" sz="2000" dirty="0"/>
          </a:p>
        </p:txBody>
      </p:sp>
      <p:sp>
        <p:nvSpPr>
          <p:cNvPr id="5" name="Text 3"/>
          <p:cNvSpPr/>
          <p:nvPr/>
        </p:nvSpPr>
        <p:spPr>
          <a:xfrm>
            <a:off x="822960" y="4160520"/>
            <a:ext cx="749808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Dossier de présentation aux partenaires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01</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Le problème</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Ce que coûte, aujourd'hui, l'absence d'outil sur le corridor.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Aujourd’hui, entre Douala et Bangui</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Le commerce fonctionne, mais sans mémoire.</a:t>
            </a:r>
            <a:endParaRPr lang="en-US" sz="1400" dirty="0"/>
          </a:p>
        </p:txBody>
      </p:sp>
      <p:sp>
        <p:nvSpPr>
          <p:cNvPr id="5" name="Text 3"/>
          <p:cNvSpPr/>
          <p:nvPr/>
        </p:nvSpPr>
        <p:spPr>
          <a:xfrm>
            <a:off x="566928" y="1481328"/>
            <a:ext cx="8046720" cy="3204972"/>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La commande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se prend par téléphone ou par messagerie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paiement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se note sur un cahier</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colis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part chez un transporteur, et sort du système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Au client qui demande où il en est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on répond « il est parti »</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Ce que cela coûte</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Le litige sans preuve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sans historique daté, un désaccord se règle à la parole contre la parole. On perd le client, ou on rembourse à tort.</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L’argent qui s’évapore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une commission oubliée sur une vente ne se remarque qu'en fin de mois, quand elle n'est plus récupérable.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client qui rappelle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 où est mon colis ? » occupe un employé plusieurs fois par jour, pour une réponse que le système devrait donner seul.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02</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La réponse</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Une seule plateforme, quatre métiers qui se parlent.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Quatre métiers, un seul système</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Ce qui vivait dans un cahier, une messagerie et un carnet de transporteur.</a:t>
            </a:r>
            <a:endParaRPr lang="en-US" sz="1400" dirty="0"/>
          </a:p>
        </p:txBody>
      </p:sp>
      <p:sp>
        <p:nvSpPr>
          <p:cNvPr id="5" name="Text 3"/>
          <p:cNvSpPr/>
          <p:nvPr/>
        </p:nvSpPr>
        <p:spPr>
          <a:xfrm>
            <a:off x="566928" y="1481328"/>
            <a:ext cx="8046720" cy="3204972"/>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Vendre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boutique en ligne, prix dégressifs, négociation, Mobile Money</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Servir</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service client, réclamations, retours</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Acheminer</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points de transit, suivi de colis, comptoir de remise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Compter</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grand livre par marchand, règlements, statistiques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03</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Vendre</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Un catalogue qui ressemble au commerce réel, pas à un modèle importé.</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 catalogue</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Des déclinaisons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un article existe en tailles, couleurs, conditionnements ; chacune a son prix et son stock</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Des prix dégressifs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un tarif de 1 à 6 pièces, un autre au-delà — c'est le commerce de gros, pas une option</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La négociation outillée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client discute avec un conseiller ; une proposition acceptée devient une commande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Mobile Money</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MTN MoMo et Orange Money, les moyens réellement utilisés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Les montants d’une commande sont figés au moment de l’achat.</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Désignation, prix, taxe, commission, frais de livraison.</a:t>
            </a: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Changer un tarif aujourd’hui ne réécrit pas une facture de mars.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04</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Servir</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Le service client, structuré — et séparé du retour de marchandise.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 service client</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Une file partagée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premier conseiller disponible prend le dossier</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Réclamation et retour ne se confondent pas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l'une est une plainte qu'un humain tranche, l'autre est une marchandise qui revient</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Un retour en cinq étapes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accepté, reçu, contrôlé, validé, clôturé</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L’évaluation après clôture seulement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demander un avis sur un problème non résolu mesure l'agacement, pas le service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Un retour accepté n’est pas un retour reçu.</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Confondre les deux, c’est rembourser une marchandise qui n’est jamais rentrée.</a:t>
            </a:r>
            <a:endParaRPr lang="en-US" sz="1500" dirty="0"/>
          </a:p>
          <a:p>
            <a:pPr indent="0" marL="0">
              <a:lnSpc>
                <a:spcPct val="135000"/>
              </a:lnSpc>
              <a:buNone/>
            </a:pP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Le client déclare un montant ; l’entreprise en constate un autre après ouverture du colis. Les deux chiffres sont conservés.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05</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Acheminer</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Douala — Bertoua — Bangui, étape par étape.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 corridor, outillé</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Points de transit et de récupération</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client choisit où il vient chercher sa commande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Itinéraires réutilisables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ils annoncent un délai sans l'imposer : une route coupée, cela arrive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Suivi par événements datés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 réceptionné à Bertoua le 12/03 à 14 h par David »</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Suivi public</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client entre le numéro reçu par SMS — sans compte, sans mot de passe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Au comptoir : voir, puis remettre.</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L’agent saisit le code, VOIT les colis qu’il désigne, puis confirme.</a:t>
            </a:r>
            <a:endParaRPr lang="en-US" sz="1500" dirty="0"/>
          </a:p>
          <a:p>
            <a:pPr indent="0" marL="0">
              <a:lnSpc>
                <a:spcPct val="135000"/>
              </a:lnSpc>
              <a:buNone/>
            </a:pP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Fusionner recherche et confirmation « pour gagner un clic » rendrait la remise aveugle : le code validé, la marchandise au hasard.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06</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Compter</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Une comptabilité marchand qui tient devant un tiers.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 grand livre</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Une ligne par vente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commission comprise, écrite automatiquement</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solde est une somme d’écritures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jamais un total conservé à part — un total conservé finit toujours par mentir</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Règlement en deux temps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préparer, puis confirmer : la dette ne baisse qu'au départ réel de l'argent</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Correction par ajout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une écriture fausse s'annule par une autre, avec son motif et son auteur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Piloter</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Ce que le dirigeant voit sans rien demander à personne.</a:t>
            </a:r>
            <a:endParaRPr lang="en-US" sz="1400" dirty="0"/>
          </a:p>
        </p:txBody>
      </p:sp>
      <p:sp>
        <p:nvSpPr>
          <p:cNvPr id="5" name="Text 3"/>
          <p:cNvSpPr/>
          <p:nvPr/>
        </p:nvSpPr>
        <p:spPr>
          <a:xfrm>
            <a:off x="566928" y="1481328"/>
            <a:ext cx="8046720" cy="3204972"/>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Chiffre d’affaires et articles vendus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sur la période choisie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Fiches consultées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l'audience, distincte des ventes — ce qu'on regarde sans acheter</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Les produits qui montent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pour décider quoi réapprovisionner</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Export PDF, Word et Excel</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à l'en-tête de la marque, en un clic</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07</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Ce qui distingue GARAH</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Un système pensé pour le litige, pas seulement pour la vente.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Quatre arbitrages</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La plupart des outils enregistrent ce qui se passe quand tout va bien.</a:t>
            </a:r>
            <a:endParaRPr lang="en-US" sz="1400" dirty="0"/>
          </a:p>
        </p:txBody>
      </p:sp>
      <p:sp>
        <p:nvSpPr>
          <p:cNvPr id="5" name="Shape 3"/>
          <p:cNvSpPr/>
          <p:nvPr/>
        </p:nvSpPr>
        <p:spPr>
          <a:xfrm>
            <a:off x="566928" y="1481328"/>
            <a:ext cx="3794760" cy="384048"/>
          </a:xfrm>
          <a:prstGeom prst="rect">
            <a:avLst/>
          </a:prstGeom>
          <a:solidFill>
            <a:srgbClr val="64748B"/>
          </a:solidFill>
          <a:ln/>
        </p:spPr>
      </p:sp>
      <p:sp>
        <p:nvSpPr>
          <p:cNvPr id="6" name="Text 4"/>
          <p:cNvSpPr/>
          <p:nvPr/>
        </p:nvSpPr>
        <p:spPr>
          <a:xfrm>
            <a:off x="566928" y="1481328"/>
            <a:ext cx="3794760" cy="384048"/>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LE RÉFLEXE HABITUEL</a:t>
            </a:r>
            <a:endParaRPr lang="en-US" sz="1200" dirty="0"/>
          </a:p>
        </p:txBody>
      </p:sp>
      <p:sp>
        <p:nvSpPr>
          <p:cNvPr id="7" name="Shape 5"/>
          <p:cNvSpPr/>
          <p:nvPr/>
        </p:nvSpPr>
        <p:spPr>
          <a:xfrm>
            <a:off x="4782312" y="1481328"/>
            <a:ext cx="3794760" cy="384048"/>
          </a:xfrm>
          <a:prstGeom prst="rect">
            <a:avLst/>
          </a:prstGeom>
          <a:solidFill>
            <a:srgbClr val="12A594"/>
          </a:solidFill>
          <a:ln/>
        </p:spPr>
      </p:sp>
      <p:sp>
        <p:nvSpPr>
          <p:cNvPr id="8" name="Text 6"/>
          <p:cNvSpPr/>
          <p:nvPr/>
        </p:nvSpPr>
        <p:spPr>
          <a:xfrm>
            <a:off x="4782312" y="1481328"/>
            <a:ext cx="3794760" cy="384048"/>
          </a:xfrm>
          <a:prstGeom prst="rect">
            <a:avLst/>
          </a:prstGeom>
          <a:noFill/>
          <a:ln/>
        </p:spPr>
        <p:txBody>
          <a:bodyPr wrap="square"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LE CHOIX DE GARAH</a:t>
            </a:r>
            <a:endParaRPr lang="en-US" sz="1200" dirty="0"/>
          </a:p>
        </p:txBody>
      </p:sp>
      <p:sp>
        <p:nvSpPr>
          <p:cNvPr id="9" name="Shape 7"/>
          <p:cNvSpPr/>
          <p:nvPr/>
        </p:nvSpPr>
        <p:spPr>
          <a:xfrm>
            <a:off x="566928" y="1984248"/>
            <a:ext cx="3794760" cy="658368"/>
          </a:xfrm>
          <a:prstGeom prst="rect">
            <a:avLst/>
          </a:prstGeom>
          <a:solidFill>
            <a:srgbClr val="FFFFFF"/>
          </a:solidFill>
          <a:ln w="12700">
            <a:solidFill>
              <a:srgbClr val="E2E8F0"/>
            </a:solidFill>
            <a:prstDash val="solid"/>
          </a:ln>
        </p:spPr>
      </p:sp>
      <p:sp>
        <p:nvSpPr>
          <p:cNvPr id="10" name="Text 8"/>
          <p:cNvSpPr/>
          <p:nvPr/>
        </p:nvSpPr>
        <p:spPr>
          <a:xfrm>
            <a:off x="704088" y="1984248"/>
            <a:ext cx="3520440" cy="65836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Une colonne « statut » qu’on écrase</a:t>
            </a:r>
            <a:endParaRPr lang="en-US" sz="1200" dirty="0"/>
          </a:p>
        </p:txBody>
      </p:sp>
      <p:sp>
        <p:nvSpPr>
          <p:cNvPr id="11" name="Shape 9"/>
          <p:cNvSpPr/>
          <p:nvPr/>
        </p:nvSpPr>
        <p:spPr>
          <a:xfrm>
            <a:off x="4782312" y="1984248"/>
            <a:ext cx="3794760" cy="658368"/>
          </a:xfrm>
          <a:prstGeom prst="rect">
            <a:avLst/>
          </a:prstGeom>
          <a:solidFill>
            <a:srgbClr val="FFFFFF"/>
          </a:solidFill>
          <a:ln w="12700">
            <a:solidFill>
              <a:srgbClr val="12A594"/>
            </a:solidFill>
            <a:prstDash val="solid"/>
          </a:ln>
        </p:spPr>
      </p:sp>
      <p:sp>
        <p:nvSpPr>
          <p:cNvPr id="12" name="Text 10"/>
          <p:cNvSpPr/>
          <p:nvPr/>
        </p:nvSpPr>
        <p:spPr>
          <a:xfrm>
            <a:off x="4919472" y="1984248"/>
            <a:ext cx="3520440" cy="658368"/>
          </a:xfrm>
          <a:prstGeom prst="rect">
            <a:avLst/>
          </a:prstGeom>
          <a:noFill/>
          <a:ln/>
        </p:spPr>
        <p:txBody>
          <a:bodyPr wrap="square" rtlCol="0" anchor="ctr"/>
          <a:lstStyle/>
          <a:p>
            <a:pPr indent="0" marL="0">
              <a:buNone/>
            </a:pPr>
            <a:r>
              <a:rPr lang="en-US" sz="1200" dirty="0">
                <a:solidFill>
                  <a:srgbClr val="0F172A"/>
                </a:solidFill>
                <a:latin typeface="Calibri" pitchFamily="34" charset="0"/>
                <a:ea typeface="Calibri" pitchFamily="34" charset="-122"/>
                <a:cs typeface="Calibri" pitchFamily="34" charset="-120"/>
              </a:rPr>
              <a:t>Un journal d’événements : chaque étape est gardée</a:t>
            </a:r>
            <a:endParaRPr lang="en-US" sz="1200" dirty="0"/>
          </a:p>
        </p:txBody>
      </p:sp>
      <p:sp>
        <p:nvSpPr>
          <p:cNvPr id="13" name="Shape 11"/>
          <p:cNvSpPr/>
          <p:nvPr/>
        </p:nvSpPr>
        <p:spPr>
          <a:xfrm>
            <a:off x="566928" y="2752344"/>
            <a:ext cx="3794760" cy="658368"/>
          </a:xfrm>
          <a:prstGeom prst="rect">
            <a:avLst/>
          </a:prstGeom>
          <a:solidFill>
            <a:srgbClr val="FFFFFF"/>
          </a:solidFill>
          <a:ln w="12700">
            <a:solidFill>
              <a:srgbClr val="E2E8F0"/>
            </a:solidFill>
            <a:prstDash val="solid"/>
          </a:ln>
        </p:spPr>
      </p:sp>
      <p:sp>
        <p:nvSpPr>
          <p:cNvPr id="14" name="Text 12"/>
          <p:cNvSpPr/>
          <p:nvPr/>
        </p:nvSpPr>
        <p:spPr>
          <a:xfrm>
            <a:off x="704088" y="2752344"/>
            <a:ext cx="3520440" cy="65836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Supprimer ce qui ne sert plus</a:t>
            </a:r>
            <a:endParaRPr lang="en-US" sz="1200" dirty="0"/>
          </a:p>
        </p:txBody>
      </p:sp>
      <p:sp>
        <p:nvSpPr>
          <p:cNvPr id="15" name="Shape 13"/>
          <p:cNvSpPr/>
          <p:nvPr/>
        </p:nvSpPr>
        <p:spPr>
          <a:xfrm>
            <a:off x="4782312" y="2752344"/>
            <a:ext cx="3794760" cy="658368"/>
          </a:xfrm>
          <a:prstGeom prst="rect">
            <a:avLst/>
          </a:prstGeom>
          <a:solidFill>
            <a:srgbClr val="FFFFFF"/>
          </a:solidFill>
          <a:ln w="12700">
            <a:solidFill>
              <a:srgbClr val="12A594"/>
            </a:solidFill>
            <a:prstDash val="solid"/>
          </a:ln>
        </p:spPr>
      </p:sp>
      <p:sp>
        <p:nvSpPr>
          <p:cNvPr id="16" name="Text 14"/>
          <p:cNvSpPr/>
          <p:nvPr/>
        </p:nvSpPr>
        <p:spPr>
          <a:xfrm>
            <a:off x="4919472" y="2752344"/>
            <a:ext cx="3520440" cy="658368"/>
          </a:xfrm>
          <a:prstGeom prst="rect">
            <a:avLst/>
          </a:prstGeom>
          <a:noFill/>
          <a:ln/>
        </p:spPr>
        <p:txBody>
          <a:bodyPr wrap="square" rtlCol="0" anchor="ctr"/>
          <a:lstStyle/>
          <a:p>
            <a:pPr indent="0" marL="0">
              <a:buNone/>
            </a:pPr>
            <a:r>
              <a:rPr lang="en-US" sz="1200" dirty="0">
                <a:solidFill>
                  <a:srgbClr val="0F172A"/>
                </a:solidFill>
                <a:latin typeface="Calibri" pitchFamily="34" charset="0"/>
                <a:ea typeface="Calibri" pitchFamily="34" charset="-122"/>
                <a:cs typeface="Calibri" pitchFamily="34" charset="-120"/>
              </a:rPr>
              <a:t>Désactiver : des factures pointent vers ces lignes</a:t>
            </a:r>
            <a:endParaRPr lang="en-US" sz="1200" dirty="0"/>
          </a:p>
        </p:txBody>
      </p:sp>
      <p:sp>
        <p:nvSpPr>
          <p:cNvPr id="17" name="Shape 15"/>
          <p:cNvSpPr/>
          <p:nvPr/>
        </p:nvSpPr>
        <p:spPr>
          <a:xfrm>
            <a:off x="566928" y="3520440"/>
            <a:ext cx="3794760" cy="658368"/>
          </a:xfrm>
          <a:prstGeom prst="rect">
            <a:avLst/>
          </a:prstGeom>
          <a:solidFill>
            <a:srgbClr val="FFFFFF"/>
          </a:solidFill>
          <a:ln w="12700">
            <a:solidFill>
              <a:srgbClr val="E2E8F0"/>
            </a:solidFill>
            <a:prstDash val="solid"/>
          </a:ln>
        </p:spPr>
      </p:sp>
      <p:sp>
        <p:nvSpPr>
          <p:cNvPr id="18" name="Text 16"/>
          <p:cNvSpPr/>
          <p:nvPr/>
        </p:nvSpPr>
        <p:spPr>
          <a:xfrm>
            <a:off x="704088" y="3520440"/>
            <a:ext cx="3520440" cy="65836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Un solde stocké quelque part</a:t>
            </a:r>
            <a:endParaRPr lang="en-US" sz="1200" dirty="0"/>
          </a:p>
        </p:txBody>
      </p:sp>
      <p:sp>
        <p:nvSpPr>
          <p:cNvPr id="19" name="Shape 17"/>
          <p:cNvSpPr/>
          <p:nvPr/>
        </p:nvSpPr>
        <p:spPr>
          <a:xfrm>
            <a:off x="4782312" y="3520440"/>
            <a:ext cx="3794760" cy="658368"/>
          </a:xfrm>
          <a:prstGeom prst="rect">
            <a:avLst/>
          </a:prstGeom>
          <a:solidFill>
            <a:srgbClr val="FFFFFF"/>
          </a:solidFill>
          <a:ln w="12700">
            <a:solidFill>
              <a:srgbClr val="12A594"/>
            </a:solidFill>
            <a:prstDash val="solid"/>
          </a:ln>
        </p:spPr>
      </p:sp>
      <p:sp>
        <p:nvSpPr>
          <p:cNvPr id="20" name="Text 18"/>
          <p:cNvSpPr/>
          <p:nvPr/>
        </p:nvSpPr>
        <p:spPr>
          <a:xfrm>
            <a:off x="4919472" y="3520440"/>
            <a:ext cx="3520440" cy="658368"/>
          </a:xfrm>
          <a:prstGeom prst="rect">
            <a:avLst/>
          </a:prstGeom>
          <a:noFill/>
          <a:ln/>
        </p:spPr>
        <p:txBody>
          <a:bodyPr wrap="square" rtlCol="0" anchor="ctr"/>
          <a:lstStyle/>
          <a:p>
            <a:pPr indent="0" marL="0">
              <a:buNone/>
            </a:pPr>
            <a:r>
              <a:rPr lang="en-US" sz="1200" dirty="0">
                <a:solidFill>
                  <a:srgbClr val="0F172A"/>
                </a:solidFill>
                <a:latin typeface="Calibri" pitchFamily="34" charset="0"/>
                <a:ea typeface="Calibri" pitchFamily="34" charset="-122"/>
                <a:cs typeface="Calibri" pitchFamily="34" charset="-120"/>
              </a:rPr>
              <a:t>Un solde recalculé, donc toujours juste</a:t>
            </a:r>
            <a:endParaRPr lang="en-US" sz="1200" dirty="0"/>
          </a:p>
        </p:txBody>
      </p:sp>
      <p:sp>
        <p:nvSpPr>
          <p:cNvPr id="21" name="Shape 19"/>
          <p:cNvSpPr/>
          <p:nvPr/>
        </p:nvSpPr>
        <p:spPr>
          <a:xfrm>
            <a:off x="566928" y="4288536"/>
            <a:ext cx="3794760" cy="658368"/>
          </a:xfrm>
          <a:prstGeom prst="rect">
            <a:avLst/>
          </a:prstGeom>
          <a:solidFill>
            <a:srgbClr val="FFFFFF"/>
          </a:solidFill>
          <a:ln w="12700">
            <a:solidFill>
              <a:srgbClr val="E2E8F0"/>
            </a:solidFill>
            <a:prstDash val="solid"/>
          </a:ln>
        </p:spPr>
      </p:sp>
      <p:sp>
        <p:nvSpPr>
          <p:cNvPr id="22" name="Text 20"/>
          <p:cNvSpPr/>
          <p:nvPr/>
        </p:nvSpPr>
        <p:spPr>
          <a:xfrm>
            <a:off x="704088" y="4288536"/>
            <a:ext cx="3520440" cy="65836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Un bouton qui échoue et affiche « erreur »</a:t>
            </a:r>
            <a:endParaRPr lang="en-US" sz="1200" dirty="0"/>
          </a:p>
        </p:txBody>
      </p:sp>
      <p:sp>
        <p:nvSpPr>
          <p:cNvPr id="23" name="Shape 21"/>
          <p:cNvSpPr/>
          <p:nvPr/>
        </p:nvSpPr>
        <p:spPr>
          <a:xfrm>
            <a:off x="4782312" y="4288536"/>
            <a:ext cx="3794760" cy="658368"/>
          </a:xfrm>
          <a:prstGeom prst="rect">
            <a:avLst/>
          </a:prstGeom>
          <a:solidFill>
            <a:srgbClr val="FFFFFF"/>
          </a:solidFill>
          <a:ln w="12700">
            <a:solidFill>
              <a:srgbClr val="12A594"/>
            </a:solidFill>
            <a:prstDash val="solid"/>
          </a:ln>
        </p:spPr>
      </p:sp>
      <p:sp>
        <p:nvSpPr>
          <p:cNvPr id="24" name="Text 22"/>
          <p:cNvSpPr/>
          <p:nvPr/>
        </p:nvSpPr>
        <p:spPr>
          <a:xfrm>
            <a:off x="4919472" y="4288536"/>
            <a:ext cx="3520440" cy="658368"/>
          </a:xfrm>
          <a:prstGeom prst="rect">
            <a:avLst/>
          </a:prstGeom>
          <a:noFill/>
          <a:ln/>
        </p:spPr>
        <p:txBody>
          <a:bodyPr wrap="square" rtlCol="0" anchor="ctr"/>
          <a:lstStyle/>
          <a:p>
            <a:pPr indent="0" marL="0">
              <a:buNone/>
            </a:pPr>
            <a:r>
              <a:rPr lang="en-US" sz="1200" dirty="0">
                <a:solidFill>
                  <a:srgbClr val="0F172A"/>
                </a:solidFill>
                <a:latin typeface="Calibri" pitchFamily="34" charset="0"/>
                <a:ea typeface="Calibri" pitchFamily="34" charset="-122"/>
                <a:cs typeface="Calibri" pitchFamily="34" charset="-120"/>
              </a:rPr>
              <a:t>L’écran dit ce qui manque avant le clic</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Un agent de service client ne peut pas déclencher un remboursement.</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Trancher un litige en faveur du client et rendre l’argent sont deux décisions séparées, avec deux autorisations différentes.</a:t>
            </a:r>
            <a:endParaRPr lang="en-US" sz="1500" dirty="0"/>
          </a:p>
          <a:p>
            <a:pPr indent="0" marL="0">
              <a:lnSpc>
                <a:spcPct val="135000"/>
              </a:lnSpc>
              <a:buNone/>
            </a:pP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188 autorisations distinctes, assemblées en profils métier.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Conçu pour les conditions locales</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Léger sur les connexions lentes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une centaine de kilo-octets au chargement ; le reste ne vient qu'à l'usage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Trois langues prévues dès l’origine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français, anglais, sango</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franc CFA</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comme monnaie de référence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Le Mobile Money</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comme moyen principal, pas comme option ajoutée après coup</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08</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Où en est le projet</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Neuf lots sur onze livrés. Le système tourne.</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L’avancement</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051560"/>
          <a:ext cx="8046720" cy="914400"/>
        </p:xfrm>
        <a:graphic>
          <a:graphicData uri="http://schemas.openxmlformats.org/drawingml/2006/table">
            <a:tbl>
              <a:tblPr/>
              <a:tblGrid>
                <a:gridCol w="6035040"/>
                <a:gridCol w="2011680"/>
              </a:tblGrid>
              <a:tr h="2834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Domaine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2A59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État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2A594"/>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Catalogue, déclinaisons, grilles de prix</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Commandes et paiements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Stocks et mouvements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Logistique : lieux, itinéraires, expéditions, suivi, comptoir</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Réclamations et retours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Service client et négociation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Finance marchand : grand livre, règlements, commissions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Clients, surveillance et audit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Statistiques et exports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7A6D"/>
                          </a:solidFill>
                          <a:latin typeface="Calibri" pitchFamily="34" charset="0"/>
                          <a:ea typeface="Calibri" pitchFamily="34" charset="-122"/>
                          <a:cs typeface="Calibri" pitchFamily="34" charset="-120"/>
                        </a:rPr>
                        <a:t>Livré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283464">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Boutique vue par le client final</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97706"/>
                          </a:solidFill>
                          <a:latin typeface="Calibri" pitchFamily="34" charset="0"/>
                          <a:ea typeface="Calibri" pitchFamily="34" charset="-122"/>
                          <a:cs typeface="Calibri" pitchFamily="34" charset="-120"/>
                        </a:rPr>
                        <a:t>En cours</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Les chiffres</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Tous vérifiables — rien n’est arrondi.</a:t>
            </a:r>
            <a:endParaRPr lang="en-US" sz="1400" dirty="0"/>
          </a:p>
        </p:txBody>
      </p:sp>
      <p:sp>
        <p:nvSpPr>
          <p:cNvPr id="5" name="Shape 3"/>
          <p:cNvSpPr/>
          <p:nvPr/>
        </p:nvSpPr>
        <p:spPr>
          <a:xfrm>
            <a:off x="566928" y="1572768"/>
            <a:ext cx="2514600" cy="1600200"/>
          </a:xfrm>
          <a:prstGeom prst="rect">
            <a:avLst/>
          </a:prstGeom>
          <a:solidFill>
            <a:srgbClr val="FFFFFF"/>
          </a:solidFill>
          <a:ln w="12700">
            <a:solidFill>
              <a:srgbClr val="E2E8F0"/>
            </a:solidFill>
            <a:prstDash val="solid"/>
          </a:ln>
        </p:spPr>
      </p:sp>
      <p:sp>
        <p:nvSpPr>
          <p:cNvPr id="6" name="Shape 4"/>
          <p:cNvSpPr/>
          <p:nvPr/>
        </p:nvSpPr>
        <p:spPr>
          <a:xfrm>
            <a:off x="566928" y="1572768"/>
            <a:ext cx="2514600" cy="54864"/>
          </a:xfrm>
          <a:prstGeom prst="rect">
            <a:avLst/>
          </a:prstGeom>
          <a:solidFill>
            <a:srgbClr val="12A594"/>
          </a:solidFill>
          <a:ln/>
        </p:spPr>
      </p:sp>
      <p:sp>
        <p:nvSpPr>
          <p:cNvPr id="7" name="Text 5"/>
          <p:cNvSpPr/>
          <p:nvPr/>
        </p:nvSpPr>
        <p:spPr>
          <a:xfrm>
            <a:off x="566928" y="1773936"/>
            <a:ext cx="2514600" cy="731520"/>
          </a:xfrm>
          <a:prstGeom prst="rect">
            <a:avLst/>
          </a:prstGeom>
          <a:noFill/>
          <a:ln/>
        </p:spPr>
        <p:txBody>
          <a:bodyPr wrap="square" rtlCol="0" anchor="ctr"/>
          <a:lstStyle/>
          <a:p>
            <a:pPr algn="ctr" indent="0" marL="0">
              <a:buNone/>
            </a:pPr>
            <a:r>
              <a:rPr lang="en-US" sz="4400" b="1" dirty="0">
                <a:solidFill>
                  <a:srgbClr val="12A594"/>
                </a:solidFill>
                <a:latin typeface="Georgia" pitchFamily="34" charset="0"/>
                <a:ea typeface="Georgia" pitchFamily="34" charset="-122"/>
                <a:cs typeface="Georgia" pitchFamily="34" charset="-120"/>
              </a:rPr>
              <a:t>64</a:t>
            </a:r>
            <a:endParaRPr lang="en-US" sz="4400" dirty="0"/>
          </a:p>
        </p:txBody>
      </p:sp>
      <p:sp>
        <p:nvSpPr>
          <p:cNvPr id="8" name="Text 6"/>
          <p:cNvSpPr/>
          <p:nvPr/>
        </p:nvSpPr>
        <p:spPr>
          <a:xfrm>
            <a:off x="704088" y="2532888"/>
            <a:ext cx="2240280" cy="548640"/>
          </a:xfrm>
          <a:prstGeom prst="rect">
            <a:avLst/>
          </a:prstGeom>
          <a:noFill/>
          <a:ln/>
        </p:spPr>
        <p:txBody>
          <a:bodyPr wrap="square" rtlCol="0" anchor="ctr"/>
          <a:lstStyle/>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tables de données</a:t>
            </a:r>
            <a:endParaRPr lang="en-US" sz="1200" dirty="0"/>
          </a:p>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structurées</a:t>
            </a:r>
            <a:endParaRPr lang="en-US" sz="1200" dirty="0"/>
          </a:p>
        </p:txBody>
      </p:sp>
      <p:sp>
        <p:nvSpPr>
          <p:cNvPr id="9" name="Shape 7"/>
          <p:cNvSpPr/>
          <p:nvPr/>
        </p:nvSpPr>
        <p:spPr>
          <a:xfrm>
            <a:off x="3337560" y="1572768"/>
            <a:ext cx="2514600" cy="1600200"/>
          </a:xfrm>
          <a:prstGeom prst="rect">
            <a:avLst/>
          </a:prstGeom>
          <a:solidFill>
            <a:srgbClr val="FFFFFF"/>
          </a:solidFill>
          <a:ln w="12700">
            <a:solidFill>
              <a:srgbClr val="E2E8F0"/>
            </a:solidFill>
            <a:prstDash val="solid"/>
          </a:ln>
        </p:spPr>
      </p:sp>
      <p:sp>
        <p:nvSpPr>
          <p:cNvPr id="10" name="Shape 8"/>
          <p:cNvSpPr/>
          <p:nvPr/>
        </p:nvSpPr>
        <p:spPr>
          <a:xfrm>
            <a:off x="3337560" y="1572768"/>
            <a:ext cx="2514600" cy="54864"/>
          </a:xfrm>
          <a:prstGeom prst="rect">
            <a:avLst/>
          </a:prstGeom>
          <a:solidFill>
            <a:srgbClr val="12A594"/>
          </a:solidFill>
          <a:ln/>
        </p:spPr>
      </p:sp>
      <p:sp>
        <p:nvSpPr>
          <p:cNvPr id="11" name="Text 9"/>
          <p:cNvSpPr/>
          <p:nvPr/>
        </p:nvSpPr>
        <p:spPr>
          <a:xfrm>
            <a:off x="3337560" y="1773936"/>
            <a:ext cx="2514600" cy="731520"/>
          </a:xfrm>
          <a:prstGeom prst="rect">
            <a:avLst/>
          </a:prstGeom>
          <a:noFill/>
          <a:ln/>
        </p:spPr>
        <p:txBody>
          <a:bodyPr wrap="square" rtlCol="0" anchor="ctr"/>
          <a:lstStyle/>
          <a:p>
            <a:pPr algn="ctr" indent="0" marL="0">
              <a:buNone/>
            </a:pPr>
            <a:r>
              <a:rPr lang="en-US" sz="4400" b="1" dirty="0">
                <a:solidFill>
                  <a:srgbClr val="12A594"/>
                </a:solidFill>
                <a:latin typeface="Georgia" pitchFamily="34" charset="0"/>
                <a:ea typeface="Georgia" pitchFamily="34" charset="-122"/>
                <a:cs typeface="Georgia" pitchFamily="34" charset="-120"/>
              </a:rPr>
              <a:t>188</a:t>
            </a:r>
            <a:endParaRPr lang="en-US" sz="4400" dirty="0"/>
          </a:p>
        </p:txBody>
      </p:sp>
      <p:sp>
        <p:nvSpPr>
          <p:cNvPr id="12" name="Text 10"/>
          <p:cNvSpPr/>
          <p:nvPr/>
        </p:nvSpPr>
        <p:spPr>
          <a:xfrm>
            <a:off x="3474720" y="2532888"/>
            <a:ext cx="2240280" cy="548640"/>
          </a:xfrm>
          <a:prstGeom prst="rect">
            <a:avLst/>
          </a:prstGeom>
          <a:noFill/>
          <a:ln/>
        </p:spPr>
        <p:txBody>
          <a:bodyPr wrap="square" rtlCol="0" anchor="ctr"/>
          <a:lstStyle/>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autorisations</a:t>
            </a:r>
            <a:endParaRPr lang="en-US" sz="1200" dirty="0"/>
          </a:p>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distinctes</a:t>
            </a:r>
            <a:endParaRPr lang="en-US" sz="1200" dirty="0"/>
          </a:p>
        </p:txBody>
      </p:sp>
      <p:sp>
        <p:nvSpPr>
          <p:cNvPr id="13" name="Shape 11"/>
          <p:cNvSpPr/>
          <p:nvPr/>
        </p:nvSpPr>
        <p:spPr>
          <a:xfrm>
            <a:off x="6108192" y="1572768"/>
            <a:ext cx="2514600" cy="1600200"/>
          </a:xfrm>
          <a:prstGeom prst="rect">
            <a:avLst/>
          </a:prstGeom>
          <a:solidFill>
            <a:srgbClr val="FFFFFF"/>
          </a:solidFill>
          <a:ln w="12700">
            <a:solidFill>
              <a:srgbClr val="E2E8F0"/>
            </a:solidFill>
            <a:prstDash val="solid"/>
          </a:ln>
        </p:spPr>
      </p:sp>
      <p:sp>
        <p:nvSpPr>
          <p:cNvPr id="14" name="Shape 12"/>
          <p:cNvSpPr/>
          <p:nvPr/>
        </p:nvSpPr>
        <p:spPr>
          <a:xfrm>
            <a:off x="6108192" y="1572768"/>
            <a:ext cx="2514600" cy="54864"/>
          </a:xfrm>
          <a:prstGeom prst="rect">
            <a:avLst/>
          </a:prstGeom>
          <a:solidFill>
            <a:srgbClr val="12A594"/>
          </a:solidFill>
          <a:ln/>
        </p:spPr>
      </p:sp>
      <p:sp>
        <p:nvSpPr>
          <p:cNvPr id="15" name="Text 13"/>
          <p:cNvSpPr/>
          <p:nvPr/>
        </p:nvSpPr>
        <p:spPr>
          <a:xfrm>
            <a:off x="6108192" y="1773936"/>
            <a:ext cx="2514600" cy="731520"/>
          </a:xfrm>
          <a:prstGeom prst="rect">
            <a:avLst/>
          </a:prstGeom>
          <a:noFill/>
          <a:ln/>
        </p:spPr>
        <p:txBody>
          <a:bodyPr wrap="square" rtlCol="0" anchor="ctr"/>
          <a:lstStyle/>
          <a:p>
            <a:pPr algn="ctr" indent="0" marL="0">
              <a:buNone/>
            </a:pPr>
            <a:r>
              <a:rPr lang="en-US" sz="4400" b="1" dirty="0">
                <a:solidFill>
                  <a:srgbClr val="12A594"/>
                </a:solidFill>
                <a:latin typeface="Georgia" pitchFamily="34" charset="0"/>
                <a:ea typeface="Georgia" pitchFamily="34" charset="-122"/>
                <a:cs typeface="Georgia" pitchFamily="34" charset="-120"/>
              </a:rPr>
              <a:t>345</a:t>
            </a:r>
            <a:endParaRPr lang="en-US" sz="4400" dirty="0"/>
          </a:p>
        </p:txBody>
      </p:sp>
      <p:sp>
        <p:nvSpPr>
          <p:cNvPr id="16" name="Text 14"/>
          <p:cNvSpPr/>
          <p:nvPr/>
        </p:nvSpPr>
        <p:spPr>
          <a:xfrm>
            <a:off x="6245352" y="2532888"/>
            <a:ext cx="2240280" cy="548640"/>
          </a:xfrm>
          <a:prstGeom prst="rect">
            <a:avLst/>
          </a:prstGeom>
          <a:noFill/>
          <a:ln/>
        </p:spPr>
        <p:txBody>
          <a:bodyPr wrap="square" rtlCol="0" anchor="ctr"/>
          <a:lstStyle/>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contrôles automatiques</a:t>
            </a:r>
            <a:endParaRPr lang="en-US" sz="1200" dirty="0"/>
          </a:p>
          <a:p>
            <a:pPr algn="ctr" indent="0" marL="0">
              <a:lnSpc>
                <a:spcPct val="115000"/>
              </a:lnSpc>
              <a:buNone/>
            </a:pPr>
            <a:r>
              <a:rPr lang="en-US" sz="1200" dirty="0">
                <a:solidFill>
                  <a:srgbClr val="64748B"/>
                </a:solidFill>
                <a:latin typeface="Calibri" pitchFamily="34" charset="0"/>
                <a:ea typeface="Calibri" pitchFamily="34" charset="-122"/>
                <a:cs typeface="Calibri" pitchFamily="34" charset="-120"/>
              </a:rPr>
              <a:t>au vert</a:t>
            </a:r>
            <a:endParaRPr lang="en-US" sz="1200" dirty="0"/>
          </a:p>
        </p:txBody>
      </p:sp>
      <p:sp>
        <p:nvSpPr>
          <p:cNvPr id="17" name="Text 15"/>
          <p:cNvSpPr/>
          <p:nvPr/>
        </p:nvSpPr>
        <p:spPr>
          <a:xfrm>
            <a:off x="566928" y="3447288"/>
            <a:ext cx="8046720" cy="1005840"/>
          </a:xfrm>
          <a:prstGeom prst="rect">
            <a:avLst/>
          </a:prstGeom>
          <a:noFill/>
          <a:ln/>
        </p:spPr>
        <p:txBody>
          <a:bodyPr wrap="square" rtlCol="0" anchor="ctr"/>
          <a:lstStyle/>
          <a:p>
            <a:pPr indent="0" marL="0">
              <a:lnSpc>
                <a:spcPct val="135000"/>
              </a:lnSpc>
              <a:buNone/>
            </a:pPr>
            <a:r>
              <a:rPr lang="en-US" sz="1400" dirty="0">
                <a:solidFill>
                  <a:srgbClr val="0F172A"/>
                </a:solidFill>
                <a:latin typeface="Calibri" pitchFamily="34" charset="0"/>
                <a:ea typeface="Calibri" pitchFamily="34" charset="-122"/>
                <a:cs typeface="Calibri" pitchFamily="34" charset="-120"/>
              </a:rPr>
              <a:t>Les 345 contrôles automatiques sont des vérifications que la machine rejoue à chaque modification. Elles répondent à une question simple : « est-ce que ce qui marchait hier marche encore aujourd’hui ? »</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Pourquoi 345 contrôles est un argument financier.</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SANS eux : chaque évolution risque de casser silencieusement autre chose, et le défaut apparaît chez le client. Le coût de maintenance grimpe jusqu’à ce que plus personne n’ose toucher au système.</a:t>
            </a:r>
            <a:endParaRPr lang="en-US" sz="1500" dirty="0"/>
          </a:p>
          <a:p>
            <a:pPr indent="0" marL="0">
              <a:lnSpc>
                <a:spcPct val="135000"/>
              </a:lnSpc>
              <a:buNone/>
            </a:pP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AVEC eux : une régression est détectée en quelques minutes, avant la mise en ligne.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09</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Les fondations</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Des choix courants, pas exotiques. Cette partie est volontairement brève.</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Ce sur quoi c’est construit</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Java / Spring Boot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la technologie des banques et des assurances ; compétences largement disponibles</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PostgreSQL</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base de données libre et éprouvée, sans coût de licence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Angular</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maintenu par Google, adapté aux applications de gestion</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Microsoft Azure, région France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serveur toujours actif, sans temps de réveil</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Deux garanties d’exploitation</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Aucune dépendance à un fournisseur unique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système a déjà été déplacé d'un hébergeur à un autre en cours de route, sans réécriture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Mise en ligne automatisée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chaque modification passe les 345 contrôles avant d'être déployée ; une version défectueuse n'atteint pas la production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1371600"/>
            <a:ext cx="1828800" cy="1280160"/>
          </a:xfrm>
          <a:prstGeom prst="rect">
            <a:avLst/>
          </a:prstGeom>
          <a:noFill/>
          <a:ln/>
        </p:spPr>
        <p:txBody>
          <a:bodyPr wrap="square" rtlCol="0" anchor="ctr"/>
          <a:lstStyle/>
          <a:p>
            <a:pPr indent="0" marL="0">
              <a:buNone/>
            </a:pPr>
            <a:r>
              <a:rPr lang="en-US" sz="9600" b="1" dirty="0">
                <a:solidFill>
                  <a:srgbClr val="0B7A6D"/>
                </a:solidFill>
                <a:latin typeface="Georgia" pitchFamily="34" charset="0"/>
                <a:ea typeface="Georgia" pitchFamily="34" charset="-122"/>
                <a:cs typeface="Georgia" pitchFamily="34" charset="-120"/>
              </a:rPr>
              <a:t>10</a:t>
            </a:r>
            <a:endParaRPr lang="en-US" sz="9600" dirty="0"/>
          </a:p>
        </p:txBody>
      </p:sp>
      <p:sp>
        <p:nvSpPr>
          <p:cNvPr id="3" name="Text 1"/>
          <p:cNvSpPr/>
          <p:nvPr/>
        </p:nvSpPr>
        <p:spPr>
          <a:xfrm>
            <a:off x="822960" y="2560320"/>
            <a:ext cx="7498080" cy="7315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La suite</a:t>
            </a:r>
            <a:endParaRPr lang="en-US" sz="4000" dirty="0"/>
          </a:p>
        </p:txBody>
      </p:sp>
      <p:sp>
        <p:nvSpPr>
          <p:cNvPr id="4" name="Shape 2"/>
          <p:cNvSpPr/>
          <p:nvPr/>
        </p:nvSpPr>
        <p:spPr>
          <a:xfrm>
            <a:off x="868680" y="3310128"/>
            <a:ext cx="1097280" cy="45720"/>
          </a:xfrm>
          <a:prstGeom prst="rect">
            <a:avLst/>
          </a:prstGeom>
          <a:solidFill>
            <a:srgbClr val="12A594"/>
          </a:solidFill>
          <a:ln/>
        </p:spPr>
      </p:sp>
      <p:sp>
        <p:nvSpPr>
          <p:cNvPr id="5" name="Text 3"/>
          <p:cNvSpPr/>
          <p:nvPr/>
        </p:nvSpPr>
        <p:spPr>
          <a:xfrm>
            <a:off x="822960" y="3520440"/>
            <a:ext cx="7132320" cy="731520"/>
          </a:xfrm>
          <a:prstGeom prst="rect">
            <a:avLst/>
          </a:prstGeom>
          <a:noFill/>
          <a:ln/>
        </p:spPr>
        <p:txBody>
          <a:bodyPr wrap="square" rtlCol="0" anchor="ctr"/>
          <a:lstStyle/>
          <a:p>
            <a:pPr indent="0" marL="0">
              <a:lnSpc>
                <a:spcPct val="130000"/>
              </a:lnSpc>
              <a:buNone/>
            </a:pPr>
            <a:r>
              <a:rPr lang="en-US" sz="1600" dirty="0">
                <a:solidFill>
                  <a:srgbClr val="64748B"/>
                </a:solidFill>
                <a:latin typeface="Calibri" pitchFamily="34" charset="0"/>
                <a:ea typeface="Calibri" pitchFamily="34" charset="-122"/>
                <a:cs typeface="Calibri" pitchFamily="34" charset="-120"/>
              </a:rPr>
              <a:t>Ce qu’un partenariat permettrait d’accélérer.</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Le dernier grand chantier</a:t>
            </a:r>
            <a:endParaRPr lang="en-US" sz="2800" dirty="0"/>
          </a:p>
        </p:txBody>
      </p:sp>
      <p:sp>
        <p:nvSpPr>
          <p:cNvPr id="4" name="Text 2"/>
          <p:cNvSpPr/>
          <p:nvPr/>
        </p:nvSpPr>
        <p:spPr>
          <a:xfrm>
            <a:off x="566928" y="932688"/>
            <a:ext cx="8046720" cy="457200"/>
          </a:xfrm>
          <a:prstGeom prst="rect">
            <a:avLst/>
          </a:prstGeom>
          <a:noFill/>
          <a:ln/>
        </p:spPr>
        <p:txBody>
          <a:bodyPr wrap="square" rtlCol="0" anchor="ctr"/>
          <a:lstStyle/>
          <a:p>
            <a:pPr indent="0" marL="0">
              <a:lnSpc>
                <a:spcPct val="120000"/>
              </a:lnSpc>
              <a:buNone/>
            </a:pPr>
            <a:r>
              <a:rPr lang="en-US" sz="1400" i="1" dirty="0">
                <a:solidFill>
                  <a:srgbClr val="64748B"/>
                </a:solidFill>
                <a:latin typeface="Calibri" pitchFamily="34" charset="0"/>
                <a:ea typeface="Calibri" pitchFamily="34" charset="-122"/>
                <a:cs typeface="Calibri" pitchFamily="34" charset="-120"/>
              </a:rPr>
              <a:t>La boutique vue par le client final.</a:t>
            </a:r>
            <a:endParaRPr lang="en-US" sz="1400" dirty="0"/>
          </a:p>
        </p:txBody>
      </p:sp>
      <p:sp>
        <p:nvSpPr>
          <p:cNvPr id="5" name="Text 3"/>
          <p:cNvSpPr/>
          <p:nvPr/>
        </p:nvSpPr>
        <p:spPr>
          <a:xfrm>
            <a:off x="566928" y="1481328"/>
            <a:ext cx="8046720" cy="3204972"/>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Vitrine et catégories</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catalogue public</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Fiche produit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choix de la déclinaison, prix selon la quantité</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Panier et commande</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adresse, point de récupération, récapitulatif</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Paiement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MTN MoMo et Orange Money</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Mes commandes et suivi</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où en est chaque colis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12A594"/>
          </a:solidFill>
          <a:ln/>
        </p:spPr>
      </p:sp>
      <p:sp>
        <p:nvSpPr>
          <p:cNvPr id="3" name="Text 1"/>
          <p:cNvSpPr/>
          <p:nvPr/>
        </p:nvSpPr>
        <p:spPr>
          <a:xfrm>
            <a:off x="566928" y="384048"/>
            <a:ext cx="8046720" cy="548640"/>
          </a:xfrm>
          <a:prstGeom prst="rect">
            <a:avLst/>
          </a:prstGeom>
          <a:noFill/>
          <a:ln/>
        </p:spPr>
        <p:txBody>
          <a:bodyPr wrap="square"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Ce qu’un partenariat accélérerait</a:t>
            </a:r>
            <a:endParaRPr lang="en-US" sz="2800" dirty="0"/>
          </a:p>
        </p:txBody>
      </p:sp>
      <p:sp>
        <p:nvSpPr>
          <p:cNvPr id="4" name="Text 2"/>
          <p:cNvSpPr/>
          <p:nvPr/>
        </p:nvSpPr>
        <p:spPr>
          <a:xfrm>
            <a:off x="566928" y="1051560"/>
            <a:ext cx="8046720" cy="3634740"/>
          </a:xfrm>
          <a:prstGeom prst="rect">
            <a:avLst/>
          </a:prstGeom>
          <a:noFill/>
          <a:ln/>
        </p:spPr>
        <p:txBody>
          <a:bodyPr wrap="square" rtlCol="0" anchor="ctr"/>
          <a:lstStyle/>
          <a:p>
            <a:pPr marL="228600" indent="-228600">
              <a:lnSpc>
                <a:spcPct val="145000"/>
              </a:lnSpc>
              <a:spcAft>
                <a:spcPts val="800"/>
              </a:spcAft>
              <a:buSzPct val="100000"/>
              <a:buChar char="▪"/>
            </a:pPr>
            <a:r>
              <a:rPr lang="en-US" sz="1500" b="1" dirty="0">
                <a:solidFill>
                  <a:srgbClr val="0F172A"/>
                </a:solidFill>
                <a:latin typeface="Calibri" pitchFamily="34" charset="0"/>
                <a:ea typeface="Calibri" pitchFamily="34" charset="-122"/>
                <a:cs typeface="Calibri" pitchFamily="34" charset="-120"/>
              </a:rPr>
              <a:t>Finir la boutique client</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et ouvrir la plateforme au public</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Recruter les marchands du corridor</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et mettre leurs catalogues en ligne</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Équiper les points de récupération</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le comptoir existe, il faut le déployer sur le terrain</a:t>
            </a:r>
            <a:endParaRPr lang="en-US" sz="1500" dirty="0"/>
          </a:p>
          <a:p>
            <a:pPr indent="0" marL="0">
              <a:lnSpc>
                <a:spcPct val="145000"/>
              </a:lnSpc>
              <a:spcAft>
                <a:spcPts val="800"/>
              </a:spcAft>
              <a:buNone/>
            </a:pPr>
            <a:r>
              <a:rPr lang="en-US" sz="1500" b="1" dirty="0">
                <a:solidFill>
                  <a:srgbClr val="0F172A"/>
                </a:solidFill>
                <a:latin typeface="Calibri" pitchFamily="34" charset="0"/>
                <a:ea typeface="Calibri" pitchFamily="34" charset="-122"/>
                <a:cs typeface="Calibri" pitchFamily="34" charset="-120"/>
              </a:rPr>
              <a:t>Conventionner les opérateurs Mobile Money</a:t>
            </a:r>
            <a:pPr indent="0" marL="0">
              <a:lnSpc>
                <a:spcPct val="145000"/>
              </a:lnSpc>
              <a:spcAft>
                <a:spcPts val="800"/>
              </a:spcAft>
              <a:buNone/>
            </a:pPr>
            <a:r>
              <a:rPr lang="en-US" sz="1500" dirty="0">
                <a:solidFill>
                  <a:srgbClr val="64748B"/>
                </a:solidFill>
                <a:latin typeface="Calibri" pitchFamily="34" charset="0"/>
                <a:ea typeface="Calibri" pitchFamily="34" charset="-122"/>
                <a:cs typeface="Calibri" pitchFamily="34" charset="-120"/>
              </a:rPr>
              <a:t> — aux conditions du volume</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A594"/>
        </a:solidFill>
      </p:bgPr>
    </p:bg>
    <p:spTree>
      <p:nvGrpSpPr>
        <p:cNvPr id="1" name=""/>
        <p:cNvGrpSpPr/>
        <p:nvPr/>
      </p:nvGrpSpPr>
      <p:grpSpPr>
        <a:xfrm>
          <a:off x="0" y="0"/>
          <a:ext cx="0" cy="0"/>
          <a:chOff x="0" y="0"/>
          <a:chExt cx="0" cy="0"/>
        </a:xfrm>
      </p:grpSpPr>
      <p:sp>
        <p:nvSpPr>
          <p:cNvPr id="2" name="Text 0"/>
          <p:cNvSpPr/>
          <p:nvPr/>
        </p:nvSpPr>
        <p:spPr>
          <a:xfrm>
            <a:off x="640080" y="457200"/>
            <a:ext cx="914400" cy="914400"/>
          </a:xfrm>
          <a:prstGeom prst="rect">
            <a:avLst/>
          </a:prstGeom>
          <a:noFill/>
          <a:ln/>
        </p:spPr>
        <p:txBody>
          <a:bodyPr wrap="square" rtlCol="0" anchor="ctr"/>
          <a:lstStyle/>
          <a:p>
            <a:pPr indent="0" marL="0">
              <a:buNone/>
            </a:pPr>
            <a:r>
              <a:rPr lang="en-US" sz="9000" b="1" dirty="0">
                <a:solidFill>
                  <a:srgbClr val="0B7A6D"/>
                </a:solidFill>
                <a:latin typeface="Georgia" pitchFamily="34" charset="0"/>
                <a:ea typeface="Georgia" pitchFamily="34" charset="-122"/>
                <a:cs typeface="Georgia" pitchFamily="34" charset="-120"/>
              </a:rPr>
              <a:t>“</a:t>
            </a:r>
            <a:endParaRPr lang="en-US" sz="9000" dirty="0"/>
          </a:p>
        </p:txBody>
      </p:sp>
      <p:sp>
        <p:nvSpPr>
          <p:cNvPr id="3" name="Text 1"/>
          <p:cNvSpPr/>
          <p:nvPr/>
        </p:nvSpPr>
        <p:spPr>
          <a:xfrm>
            <a:off x="914400" y="1371600"/>
            <a:ext cx="7315200" cy="146304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Le risque technique principal est derrière nous.</a:t>
            </a:r>
            <a:endParaRPr lang="en-US" sz="3200" dirty="0"/>
          </a:p>
        </p:txBody>
      </p:sp>
      <p:sp>
        <p:nvSpPr>
          <p:cNvPr id="4" name="Text 2"/>
          <p:cNvSpPr/>
          <p:nvPr/>
        </p:nvSpPr>
        <p:spPr>
          <a:xfrm>
            <a:off x="914400" y="3017520"/>
            <a:ext cx="7315200" cy="1188720"/>
          </a:xfrm>
          <a:prstGeom prst="rect">
            <a:avLst/>
          </a:prstGeom>
          <a:noFill/>
          <a:ln/>
        </p:spPr>
        <p:txBody>
          <a:bodyPr wrap="square" rtlCol="0" anchor="ctr"/>
          <a:lstStyle/>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Construire un système fiable qui tienne ensemble la comptabilité, la logistique et le service client : c’est fait. Il tourne, il est vérifié en continu, il est documenté.</a:t>
            </a:r>
            <a:endParaRPr lang="en-US" sz="1500" dirty="0"/>
          </a:p>
          <a:p>
            <a:pPr indent="0" marL="0">
              <a:lnSpc>
                <a:spcPct val="135000"/>
              </a:lnSpc>
              <a:buNone/>
            </a:pPr>
            <a:endParaRPr lang="en-US" sz="1500" dirty="0"/>
          </a:p>
          <a:p>
            <a:pPr indent="0" marL="0">
              <a:lnSpc>
                <a:spcPct val="135000"/>
              </a:lnSpc>
              <a:buNone/>
            </a:pPr>
            <a:r>
              <a:rPr lang="en-US" sz="1500" dirty="0">
                <a:solidFill>
                  <a:srgbClr val="D6F5F0"/>
                </a:solidFill>
                <a:latin typeface="Calibri" pitchFamily="34" charset="0"/>
                <a:ea typeface="Calibri" pitchFamily="34" charset="-122"/>
                <a:cs typeface="Calibri" pitchFamily="34" charset="-120"/>
              </a:rPr>
              <a:t>Ce qui reste relève de l’exécution commerciale et du déploiement terrain.</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12A594"/>
          </a:solidFill>
          <a:ln/>
        </p:spPr>
      </p:sp>
      <p:sp>
        <p:nvSpPr>
          <p:cNvPr id="3" name="Text 1"/>
          <p:cNvSpPr/>
          <p:nvPr/>
        </p:nvSpPr>
        <p:spPr>
          <a:xfrm>
            <a:off x="822960" y="1417320"/>
            <a:ext cx="7772400" cy="914400"/>
          </a:xfrm>
          <a:prstGeom prst="rect">
            <a:avLst/>
          </a:prstGeom>
          <a:noFill/>
          <a:ln/>
        </p:spPr>
        <p:txBody>
          <a:bodyPr wrap="square" rtlCol="0" anchor="ctr"/>
          <a:lstStyle/>
          <a:p>
            <a:pPr indent="0" marL="0">
              <a:buNone/>
            </a:pPr>
            <a:r>
              <a:rPr lang="en-US" sz="5400" b="1" spc="200" kern="0" dirty="0">
                <a:solidFill>
                  <a:srgbClr val="FFFFFF"/>
                </a:solidFill>
                <a:latin typeface="Georgia" pitchFamily="34" charset="0"/>
                <a:ea typeface="Georgia" pitchFamily="34" charset="-122"/>
                <a:cs typeface="Georgia" pitchFamily="34" charset="-120"/>
              </a:rPr>
              <a:t>GARAH</a:t>
            </a:r>
            <a:endParaRPr lang="en-US" sz="5400" dirty="0"/>
          </a:p>
        </p:txBody>
      </p:sp>
      <p:sp>
        <p:nvSpPr>
          <p:cNvPr id="4" name="Text 2"/>
          <p:cNvSpPr/>
          <p:nvPr/>
        </p:nvSpPr>
        <p:spPr>
          <a:xfrm>
            <a:off x="822960" y="2377440"/>
            <a:ext cx="7498080" cy="822960"/>
          </a:xfrm>
          <a:prstGeom prst="rect">
            <a:avLst/>
          </a:prstGeom>
          <a:noFill/>
          <a:ln/>
        </p:spPr>
        <p:txBody>
          <a:bodyPr wrap="square" rtlCol="0" anchor="ctr"/>
          <a:lstStyle/>
          <a:p>
            <a:pPr indent="0" marL="0">
              <a:lnSpc>
                <a:spcPct val="120000"/>
              </a:lnSpc>
              <a:buNone/>
            </a:pPr>
            <a:r>
              <a:rPr lang="en-US" sz="2000" dirty="0">
                <a:solidFill>
                  <a:srgbClr val="12A594"/>
                </a:solidFill>
                <a:latin typeface="Calibri" pitchFamily="34" charset="0"/>
                <a:ea typeface="Calibri" pitchFamily="34" charset="-122"/>
                <a:cs typeface="Calibri" pitchFamily="34" charset="-120"/>
              </a:rPr>
              <a:t>Vendre, servir et acheminer</a:t>
            </a:r>
            <a:endParaRPr lang="en-US" sz="2000" dirty="0"/>
          </a:p>
          <a:p>
            <a:pPr indent="0" marL="0">
              <a:lnSpc>
                <a:spcPct val="120000"/>
              </a:lnSpc>
              <a:buNone/>
            </a:pPr>
            <a:r>
              <a:rPr lang="en-US" sz="2000" dirty="0">
                <a:solidFill>
                  <a:srgbClr val="12A594"/>
                </a:solidFill>
                <a:latin typeface="Calibri" pitchFamily="34" charset="0"/>
                <a:ea typeface="Calibri" pitchFamily="34" charset="-122"/>
                <a:cs typeface="Calibri" pitchFamily="34" charset="-120"/>
              </a:rPr>
              <a:t>entre le Cameroun et la Centrafrique</a:t>
            </a:r>
            <a:endParaRPr lang="en-US" sz="2000" dirty="0"/>
          </a:p>
        </p:txBody>
      </p:sp>
      <p:sp>
        <p:nvSpPr>
          <p:cNvPr id="5" name="Text 3"/>
          <p:cNvSpPr/>
          <p:nvPr/>
        </p:nvSpPr>
        <p:spPr>
          <a:xfrm>
            <a:off x="822960" y="4160520"/>
            <a:ext cx="7498080" cy="45720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Merci — et à votre disposition pour les questions.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GARAH — Vendre, servir et acheminer</dc:title>
  <dc:subject>PptxGenJS Presentation</dc:subject>
  <dc:creator>GARAH</dc:creator>
  <cp:lastModifiedBy>GARAH</cp:lastModifiedBy>
  <cp:revision>1</cp:revision>
  <dcterms:created xsi:type="dcterms:W3CDTF">2026-09-08T22:32:49Z</dcterms:created>
  <dcterms:modified xsi:type="dcterms:W3CDTF">2026-09-08T22:32:49Z</dcterms:modified>
</cp:coreProperties>
</file>