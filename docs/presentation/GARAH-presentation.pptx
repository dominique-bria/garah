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GARAH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Vendre, servir et acheminer entre le Cameroun et la Centrafrique</a:t>
            </a:r>
            <a:br/>
            <a:br/>
            <a:r>
              <a:rPr/>
              <a:t>Dossier de présentation aux partenaires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Aujourd’hui, entre Douala et Bangui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commerce sur le corridor fonctionne au </a:t>
            </a:r>
            <a:r>
              <a:rPr b="1"/>
              <a:t>système D</a:t>
            </a:r>
            <a:r>
              <a:rPr/>
              <a:t> :</a:t>
            </a:r>
          </a:p>
          <a:p>
            <a:pPr lvl="0"/>
            <a:r>
              <a:rPr/>
              <a:t>la commande se prend par téléphone ou messagerie ;</a:t>
            </a:r>
          </a:p>
          <a:p>
            <a:pPr lvl="0"/>
            <a:r>
              <a:rPr/>
              <a:t>le paiement se note sur un cahier ;</a:t>
            </a:r>
          </a:p>
          <a:p>
            <a:pPr lvl="0"/>
            <a:r>
              <a:rPr/>
              <a:t>le colis part chez un transporteur ;</a:t>
            </a:r>
          </a:p>
          <a:p>
            <a:pPr lvl="0"/>
            <a:r>
              <a:rPr/>
              <a:t>au client qui demande où il en est, on répond « il est parti ».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cela coûte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 litige sans preuve</a:t>
            </a:r>
          </a:p>
          <a:p>
            <a:pPr lvl="0" indent="0" marL="1270000">
              <a:buNone/>
            </a:pPr>
            <a:r>
              <a:rPr sz="2000"/>
              <a:t>Sans historique daté, un désaccord se règle à la parole contre la parole. On perd le client, ou on rembourse à tort.</a:t>
            </a:r>
          </a:p>
          <a:p>
            <a:pPr lvl="0" indent="0" marL="0">
              <a:buNone/>
            </a:pPr>
            <a:r>
              <a:rPr b="1"/>
              <a:t>L’argent qui s’évapore</a:t>
            </a:r>
          </a:p>
          <a:p>
            <a:pPr lvl="0" indent="0" marL="1270000">
              <a:buNone/>
            </a:pPr>
            <a:r>
              <a:rPr sz="2000"/>
              <a:t>Une commission oubliée sur une vente ne se remarque qu’en fin de mois, quand elle n’est plus récupérable.</a:t>
            </a:r>
          </a:p>
          <a:p>
            <a:pPr lvl="0" indent="0" marL="0">
              <a:buNone/>
            </a:pPr>
            <a:r>
              <a:rPr b="1"/>
              <a:t>Le client qui rappelle</a:t>
            </a:r>
          </a:p>
          <a:p>
            <a:pPr lvl="0" indent="0" marL="1270000">
              <a:buNone/>
            </a:pPr>
            <a:r>
              <a:rPr sz="2000"/>
              <a:t>« Où est mon colis ? » occupe un employé plusieurs fois par jour, pour une réponse que le système devrait donner tout seul.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réponse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seule plateforme, quatre métiers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Vendre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Boutique en ligne, prix dégressifs, négociation, Mobile Money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Servir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client, réclamations, retours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Acheminer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de transit, suivi de colis, comptoir de remise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Grand livre par marchand, règlements, statistiques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qui est réuni, et qui ne l’était 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qui vivait dans </a:t>
            </a:r>
            <a:r>
              <a:rPr b="1"/>
              <a:t>un cahier, une messagerie et un carnet de transporteur</a:t>
            </a:r>
            <a:r>
              <a:rPr/>
              <a:t> vit désormais au même endroit — et se recoupe tout seul.</a:t>
            </a:r>
          </a:p>
          <a:p>
            <a:pPr lvl="0" indent="0" marL="0">
              <a:buNone/>
            </a:pPr>
            <a:r>
              <a:rPr/>
              <a:t>Une vente écrit sa ligne comptable. Un colis écrit son parcours. Une réclamation retrouve la commande.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Vendre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catalogue qui ressemble au commerce réel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Des déclinaisons</a:t>
            </a:r>
            <a:r>
              <a:rPr/>
              <a:t> — un article existe en tailles, couleurs, conditionnements ; chacune a son prix et son stock.</a:t>
            </a:r>
          </a:p>
          <a:p>
            <a:pPr lvl="0"/>
            <a:r>
              <a:rPr b="1"/>
              <a:t>Des prix dégressifs</a:t>
            </a:r>
            <a:r>
              <a:rPr/>
              <a:t> — un tarif de 1 à 6 pièces, un autre au-delà. C’est le commerce de gros, pas une option.</a:t>
            </a:r>
          </a:p>
          <a:p>
            <a:pPr lvl="0"/>
            <a:r>
              <a:rPr b="1"/>
              <a:t>La négociation outillée</a:t>
            </a:r>
            <a:r>
              <a:rPr/>
              <a:t> — le client discute, une proposition acceptée devient une commande.</a:t>
            </a:r>
          </a:p>
          <a:p>
            <a:pPr lvl="0"/>
            <a:r>
              <a:rPr b="1"/>
              <a:t>Le Mobile Money</a:t>
            </a:r>
            <a:r>
              <a:rPr/>
              <a:t> — MTN MoMo et Orange Money.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règle qui protège l’entreprise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Les montants d’une commande sont </a:t>
            </a:r>
            <a:r>
              <a:rPr sz="2000" b="1"/>
              <a:t>figés au moment de l’achat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Désignation, prix, taxe, commission, frais de livraison.</a:t>
            </a:r>
          </a:p>
          <a:p>
            <a:pPr lvl="0" indent="0" marL="0">
              <a:buNone/>
            </a:pPr>
            <a:r>
              <a:rPr/>
              <a:t>Changer un tarif aujourd’hui ne réécrit pas une facture de mars. Sans cette règle, toute la comptabilité passée deviendrait fausse à chaque mise à jour de prix.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Servir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service client, structuré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Une file partagée</a:t>
            </a:r>
            <a:r>
              <a:rPr/>
              <a:t> — le premier conseiller disponible prend le dossier.</a:t>
            </a:r>
          </a:p>
          <a:p>
            <a:pPr lvl="0"/>
            <a:r>
              <a:rPr b="1"/>
              <a:t>Réclamation et retour ne se confondent pas</a:t>
            </a:r>
            <a:r>
              <a:rPr/>
              <a:t> — l’une est une plainte qu’un humain tranche, l’autre est une marchandise qui revient.</a:t>
            </a:r>
          </a:p>
          <a:p>
            <a:pPr lvl="0"/>
            <a:r>
              <a:rPr b="1"/>
              <a:t>Un retour en cinq étapes</a:t>
            </a:r>
            <a:r>
              <a:rPr/>
              <a:t> — accepté, reçu, contrôlé, validé, clôturé.</a:t>
            </a:r>
          </a:p>
          <a:p>
            <a:pPr lvl="0"/>
            <a:r>
              <a:rPr b="1"/>
              <a:t>L’évaluation après clôture seulement.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cinq étapes et pas un bouton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retour </a:t>
            </a:r>
            <a:r>
              <a:rPr b="1"/>
              <a:t>accepté</a:t>
            </a:r>
            <a:r>
              <a:rPr/>
              <a:t> n’est pas un retour </a:t>
            </a:r>
            <a:r>
              <a:rPr b="1"/>
              <a:t>reçu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Confondre les deux, c’est rembourser une marchandise qui n’est jamais rentrée.</a:t>
            </a:r>
          </a:p>
          <a:p>
            <a:pPr lvl="0" indent="0" marL="0">
              <a:buNone/>
            </a:pPr>
            <a:r>
              <a:rPr/>
              <a:t>Le client déclare un montant ; l’entreprise en constate un autre après ouverture du colis. Les deux chiffres sont conservés.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Acheminer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corridor, outillé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Points de transit et de récupération</a:t>
            </a:r>
            <a:r>
              <a:rPr/>
              <a:t> — le client choisit où il vient chercher.</a:t>
            </a:r>
          </a:p>
          <a:p>
            <a:pPr lvl="0"/>
            <a:r>
              <a:rPr b="1"/>
              <a:t>Itinéraires réutilisables</a:t>
            </a:r>
            <a:r>
              <a:rPr/>
              <a:t> — ils annoncent un délai sans l’imposer.</a:t>
            </a:r>
          </a:p>
          <a:p>
            <a:pPr lvl="0"/>
            <a:r>
              <a:rPr b="1"/>
              <a:t>Suivi par événements datés</a:t>
            </a:r>
            <a:r>
              <a:rPr/>
              <a:t> — « réceptionné à Bertoua le 12/03 à 14 h par David ».</a:t>
            </a:r>
          </a:p>
          <a:p>
            <a:pPr lvl="0"/>
            <a:r>
              <a:rPr b="1"/>
              <a:t>Suivi public</a:t>
            </a:r>
            <a:r>
              <a:rPr/>
              <a:t> — le client entre le numéro reçu par SMS, sans compte.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Voir avant de remettre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 comptoir, l’agent saisit le code, </a:t>
            </a:r>
            <a:r>
              <a:rPr b="1"/>
              <a:t>voit</a:t>
            </a:r>
            <a:r>
              <a:rPr/>
              <a:t> les colis qu’il désigne, puis confirme.</a:t>
            </a:r>
          </a:p>
          <a:p>
            <a:pPr lvl="0" indent="0" marL="0">
              <a:buNone/>
            </a:pPr>
            <a:r>
              <a:rPr/>
              <a:t>Fusionner recherche et confirmation « pour gagner un clic » rendrait la remise aveugle : le code validé, la marchandise au hasard.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Compter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comptabilité qui tient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 grand livre par marchand</a:t>
            </a:r>
            <a:r>
              <a:rPr/>
              <a:t> — chaque vente écrit sa ligne, commission comprise.</a:t>
            </a:r>
          </a:p>
          <a:p>
            <a:pPr lvl="0"/>
            <a:r>
              <a:rPr b="1"/>
              <a:t>Le solde est une somme d’écritures</a:t>
            </a:r>
            <a:r>
              <a:rPr/>
              <a:t>, jamais un total conservé à part.</a:t>
            </a:r>
          </a:p>
          <a:p>
            <a:pPr lvl="0"/>
            <a:r>
              <a:rPr b="1"/>
              <a:t>Règlement en deux temps</a:t>
            </a:r>
            <a:r>
              <a:rPr/>
              <a:t> — préparer, puis confirmer. La dette ne baisse qu’au départ réel de l’argent.</a:t>
            </a:r>
          </a:p>
          <a:p>
            <a:pPr lvl="0"/>
            <a:r>
              <a:rPr b="1"/>
              <a:t>Correction par ajout</a:t>
            </a:r>
            <a:r>
              <a:rPr/>
              <a:t> — une écriture fausse s’annule par une autre, avec son motif et son auteur.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Statistiques et exports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Chiffre d’affaires, articles vendus, fiches consultées, produits qui montent.</a:t>
            </a:r>
          </a:p>
          <a:p>
            <a:pPr lvl="0" indent="0" marL="0">
              <a:buNone/>
            </a:pPr>
            <a:r>
              <a:rPr/>
              <a:t>Exportables en </a:t>
            </a:r>
            <a:r>
              <a:rPr b="1"/>
              <a:t>PDF, Word et Excel</a:t>
            </a:r>
            <a:r>
              <a:rPr/>
              <a:t>, avec l’en-tête de la marque.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 qui distingue GARAH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Pensé pour le litige, pas seulement pour la vente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 réflexe habituel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 choix de GARAH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Une colonne « statut » qu’on écrase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 </a:t>
                      </a:r>
                      <a:r>
                        <a:rPr b="1"/>
                        <a:t>journal d’événements</a:t>
                      </a:r>
                      <a:r>
                        <a:rPr/>
                        <a:t> : chaque étape est gardée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Supprimer ce qui ne sert plus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Désactiver</a:t>
                      </a:r>
                      <a:r>
                        <a:rPr/>
                        <a:t> : des factures pointent vers ces lignes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 solde stocké quelque part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 solde </a:t>
                      </a:r>
                      <a:r>
                        <a:rPr b="1"/>
                        <a:t>recalculé</a:t>
                      </a:r>
                      <a:r>
                        <a:rPr/>
                        <a:t>, donc toujours juste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 bouton qui échoue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L’écran dit </a:t>
                      </a:r>
                      <a:r>
                        <a:rPr b="1"/>
                        <a:t>ce qui manque avant le clic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séparation des pouvoirs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188 autorisations</a:t>
            </a:r>
            <a:r>
              <a:rPr/>
              <a:t> distinctes, assemblées en profils métier.</a:t>
            </a:r>
          </a:p>
          <a:p>
            <a:pPr lvl="0" indent="0" marL="1270000">
              <a:buNone/>
            </a:pPr>
            <a:r>
              <a:rPr sz="2000"/>
              <a:t>Un agent de service client ne peut pas déclencher un remboursement.</a:t>
            </a:r>
          </a:p>
          <a:p>
            <a:pPr lvl="0" indent="0" marL="0">
              <a:buNone/>
            </a:pPr>
            <a:r>
              <a:rPr/>
              <a:t>Trancher un litige en faveur du client et rendre l’argent sont </a:t>
            </a:r>
            <a:r>
              <a:rPr b="1"/>
              <a:t>deux décisions séparées</a:t>
            </a:r>
            <a:r>
              <a:rPr/>
              <a:t>, avec deux autorisations différentes.</a:t>
            </a:r>
          </a:p>
          <a:p>
            <a:pPr lvl="0" indent="0" marL="0">
              <a:buNone/>
            </a:pPr>
            <a:r>
              <a:rPr/>
              <a:t>C’est ce qui empêche qu’une seule personne puisse, seule, faire sortir de l’argent.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Conçu pour les conditions locales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Léger sur les connexions lentes</a:t>
            </a:r>
            <a:r>
              <a:rPr/>
              <a:t> — une centaine de kilo-octets au chargement.</a:t>
            </a:r>
          </a:p>
          <a:p>
            <a:pPr lvl="0"/>
            <a:r>
              <a:rPr b="1"/>
              <a:t>Trois langues prévues</a:t>
            </a:r>
            <a:r>
              <a:rPr/>
              <a:t> dès l’origine : français, anglais, sango.</a:t>
            </a:r>
          </a:p>
          <a:p>
            <a:pPr lvl="0"/>
            <a:r>
              <a:rPr b="1"/>
              <a:t>Le franc CFA</a:t>
            </a:r>
            <a:r>
              <a:rPr/>
              <a:t> comme monnaie de référence.</a:t>
            </a:r>
          </a:p>
          <a:p>
            <a:pPr lvl="0"/>
            <a:r>
              <a:rPr b="1"/>
              <a:t>Le Mobile Money</a:t>
            </a:r>
            <a:r>
              <a:rPr/>
              <a:t> comme moyen principal, pas comme option ajoutée après coup.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Où en est le projet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Neuf lots sur onze, livrés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État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Catalogue, déclinaisons, grilles de prix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 et paiements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Stocks et mouvements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Logistique complète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Réclamations et retours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client et négociation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 marchand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Clients, surveillance,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Statistiques et exports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Livré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Boutique vue par le client final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 cours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Les chiffres, et ce qu’ils veulent dire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tables de données structurées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autorisations distinctes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contrôles automatiques au vert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décisions d’architecture documentées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345 contrôles est un argument financier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sont des vérifications que la machine rejoue à chaque modification.</a:t>
            </a:r>
          </a:p>
          <a:p>
            <a:pPr lvl="0" indent="0" marL="0">
              <a:buNone/>
            </a:pPr>
            <a:r>
              <a:rPr b="1"/>
              <a:t>Sans elles</a:t>
            </a:r>
            <a:r>
              <a:rPr/>
              <a:t> : chaque évolution risque de casser silencieusement autre chose, et le défaut apparaît chez le client. Le coût de maintenance grimpe jusqu’à ce que plus personne n’ose toucher au système.</a:t>
            </a:r>
          </a:p>
          <a:p>
            <a:pPr lvl="0" indent="0" marL="0">
              <a:buNone/>
            </a:pPr>
            <a:r>
              <a:rPr b="1"/>
              <a:t>Avec elles</a:t>
            </a:r>
            <a:r>
              <a:rPr/>
              <a:t> : une régression est détectée en quelques minutes, avant la mise en ligne.</a:t>
            </a:r>
          </a:p>
          <a:p>
            <a:pPr lvl="0" indent="0" marL="0">
              <a:buNone/>
            </a:pPr>
            <a:r>
              <a:rPr/>
              <a:t>Le projet est </a:t>
            </a:r>
            <a:r>
              <a:rPr b="1"/>
              <a:t>évolutif sur la durée</a:t>
            </a:r>
            <a:r>
              <a:rPr/>
              <a:t>, pas seulement fonctionnel aujourd’hui.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Les fondations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 choix courants, pas exotiques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Élément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Java / Spring Boot</a:t>
                      </a:r>
                      <a:r>
                        <a:rPr/>
                        <a:t> — la technologie des banques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de données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PostgreSQL</a:t>
                      </a:r>
                      <a:r>
                        <a:rPr/>
                        <a:t> — libre, éprouvée, sans licence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Angular</a:t>
                      </a:r>
                      <a:r>
                        <a:rPr/>
                        <a:t> — maintenu par Google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Hébergement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Microsoft Azure</a:t>
                      </a:r>
                      <a:r>
                        <a:rPr/>
                        <a:t>, région France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Compétences largement disponibles sur le marché. Aucune brique propriétaire.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Deux garanties d’exploitation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Aucune dépendance à un fournisseur unique</a:t>
            </a:r>
          </a:p>
          <a:p>
            <a:pPr lvl="0" indent="0" marL="1270000">
              <a:buNone/>
            </a:pPr>
            <a:r>
              <a:rPr sz="2000"/>
              <a:t>Le système a déjà été déplacé d’un hébergeur à un autre en cours de route, sans réécriture.</a:t>
            </a:r>
          </a:p>
          <a:p>
            <a:pPr lvl="0" indent="0" marL="0">
              <a:buNone/>
            </a:pPr>
            <a:r>
              <a:rPr b="1"/>
              <a:t>Mise en ligne automatisée</a:t>
            </a:r>
          </a:p>
          <a:p>
            <a:pPr lvl="0" indent="0" marL="1270000">
              <a:buNone/>
            </a:pPr>
            <a:r>
              <a:rPr sz="2000"/>
              <a:t>Chaque modification passe les 345 contrôles avant d’être déployée. Une version défectueuse n’atteint pas la production.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suite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dernier grand chantier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</a:t>
            </a:r>
            <a:r>
              <a:rPr b="1"/>
              <a:t>boutique vue par le client final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Le serveur expose déjà tout ce dont elle a besoin : catalogue, panier, commande, paiement, suivi, réclamations, conversations.</a:t>
            </a:r>
          </a:p>
          <a:p>
            <a:pPr lvl="0" indent="0" marL="0">
              <a:buNone/>
            </a:pPr>
            <a:r>
              <a:rPr/>
              <a:t>Il reste à construire les écrans.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qu’un partenariat permettrait d’accélérer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Finir la boutique client</a:t>
            </a:r>
            <a:r>
              <a:rPr/>
              <a:t> et ouvrir la plateforme au public.</a:t>
            </a:r>
          </a:p>
          <a:p>
            <a:pPr lvl="0"/>
            <a:r>
              <a:rPr b="1"/>
              <a:t>Recruter les marchands</a:t>
            </a:r>
            <a:r>
              <a:rPr/>
              <a:t> du corridor et mettre leurs catalogues en ligne.</a:t>
            </a:r>
          </a:p>
          <a:p>
            <a:pPr lvl="0"/>
            <a:r>
              <a:rPr b="1"/>
              <a:t>Équiper les points de récupération</a:t>
            </a:r>
            <a:r>
              <a:rPr/>
              <a:t> — le comptoir existe, il faut le déployer.</a:t>
            </a:r>
          </a:p>
          <a:p>
            <a:pPr lvl="0"/>
            <a:r>
              <a:rPr b="1"/>
              <a:t>Conventionner les opérateurs Mobile Money</a:t>
            </a:r>
            <a:r>
              <a:rPr/>
              <a:t> aux conditions du volume.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qui est déjà acquis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Le risque technique principal est </a:t>
            </a:r>
            <a:r>
              <a:rPr sz="2000" b="1"/>
              <a:t>derrière nous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Construire un système fiable qui tienne ensemble la comptabilité, la logistique et le service client : c’est fait. Il tourne, il est vérifié en continu, il est documenté.</a:t>
            </a:r>
          </a:p>
          <a:p>
            <a:pPr lvl="0" indent="0" marL="0">
              <a:buNone/>
            </a:pPr>
            <a:r>
              <a:rPr/>
              <a:t>Ce qui reste relève de l’</a:t>
            </a:r>
            <a:r>
              <a:rPr b="1"/>
              <a:t>exécution commerciale</a:t>
            </a:r>
            <a:r>
              <a:rPr/>
              <a:t> et du </a:t>
            </a:r>
            <a:r>
              <a:rPr b="1"/>
              <a:t>déploiement terrain</a:t>
            </a:r>
            <a:r>
              <a:rPr/>
              <a:t>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GARAH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Vendre, servir et acheminer</a:t>
            </a:r>
          </a:p>
          <a:p>
            <a:pPr lvl="0" indent="0" marL="0">
              <a:buNone/>
            </a:pPr>
            <a:r>
              <a:rPr/>
              <a:t>entre le Cameroun et la Centrafrique.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GARAH</dc:title>
  <dc:creator>Dossier de présentation aux partenaires</dc:creator>
  <cp:keywords/>
  <dcterms:created xsi:type="dcterms:W3CDTF">2026-09-08T22:10:58Z</dcterms:created>
  <dcterms:modified xsi:type="dcterms:W3CDTF">2026-09-08T22:10:58Z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Vendre, servir et acheminer entre le Cameroun et la Centrafrique</vt:lpwstr>
  </property>
</Properties>
</file>